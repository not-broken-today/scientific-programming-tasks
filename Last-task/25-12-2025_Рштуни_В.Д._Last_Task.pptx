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2" r:id="rId2"/>
    <p:sldId id="347" r:id="rId3"/>
    <p:sldId id="351" r:id="rId4"/>
    <p:sldId id="369" r:id="rId5"/>
    <p:sldId id="362" r:id="rId6"/>
    <p:sldId id="367" r:id="rId7"/>
    <p:sldId id="368" r:id="rId8"/>
    <p:sldId id="363" r:id="rId9"/>
    <p:sldId id="364" r:id="rId10"/>
    <p:sldId id="359" r:id="rId11"/>
    <p:sldId id="365" r:id="rId12"/>
    <p:sldId id="360" r:id="rId13"/>
    <p:sldId id="36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78706" autoAdjust="0"/>
  </p:normalViewPr>
  <p:slideViewPr>
    <p:cSldViewPr snapToGrid="0">
      <p:cViewPr varScale="1">
        <p:scale>
          <a:sx n="60" d="100"/>
          <a:sy n="60" d="100"/>
        </p:scale>
        <p:origin x="7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A2748-993D-4D94-8463-3FCCC8EDEC8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B3287-474C-44F8-B58A-ADCD38310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94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61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4314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6498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392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100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3408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1093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769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2328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768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967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4866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333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8D2B4-6EAB-46A5-8364-63440DBF4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B9F6BD-A426-4F1E-B9BD-D4BDB773E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D148D3-06DC-4A78-B092-A53FECED1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DA489D-BFFB-44CE-8D85-8B496EA7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BE701E-AEE3-4AEC-BE70-6152A66D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82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497AB-F4D2-4671-A3C9-BF360F23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EA04E2-89B8-433D-92B0-C05B4AC8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97EA36-B319-43CB-8E3C-4DDDB8F6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7BB3D5-1653-4380-8C57-1CDA2370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89EF39-BFE6-408A-AA3E-D3F3E935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10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6B2E1-8E7E-4449-ABB4-F4FE2EA38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96D42F-B36C-466E-8710-E1C928307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A574EC-A049-4EF2-A159-401AD70D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918379-D87B-43AE-A46D-A0D7B72B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D902CE-F9DF-4AF8-AAFB-4604EABD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27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AE58D-C761-48F2-88A8-747EEBB6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81F5B-39BD-4744-AAE9-80C1AAE1A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92F821-2DBD-4EA1-9C0D-5F198E213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7B1D3-F31B-4261-A59E-1F51E677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944911-2185-4E30-A997-2C059E3F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D361E7-9774-4A74-B552-E995D991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28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2915D-0E25-42C5-B91B-8E7BB9CF7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5DEE8C-08BD-429A-B587-A2D684A6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A601E6-DB96-48BC-9C00-C116902C8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CA02BA-07ED-4EAA-A7D0-8BA30D7BA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BDAE94-C6B8-4F9E-8F03-6FB775710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75BCD6-D848-45BE-AA90-4DF24453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5A9A5F-64EF-47B1-A665-F4F5B648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2BE99F-1E67-470D-A277-1ADD43E6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94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A9FC9-E965-4389-9B90-0450B4F0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A45C5D-8506-405B-B04E-73F90302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7EBAF8-05AC-45EB-B4B7-74017FEF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085E11-83F1-4B9D-9936-CBC7B88C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06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6252CF-EF58-46AE-9B4E-DA4817EB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44FABF-AC05-488D-8BB8-7CAC16DD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42D475-075A-49FD-9640-5E23E966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58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18078-4C49-4D37-9C7E-BC0685B4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D109B-F910-4EFD-9049-C19FCBE60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7CF12-5BF6-410B-8F7B-BF4913DF5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2AEDB4-C8E2-45EA-AA20-C0687B5D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A6485F-AD02-481A-A583-4D18C6A9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09146C-9FEA-462E-A76C-0335D1E1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89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02395-3037-45B6-A5FE-75A9FA52B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961299-0E78-40B1-8A40-051E6C413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7FF721-69EB-4402-9482-CA5BF68BF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5D326C-B98D-428A-A359-D42329CC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7C1206-E5B0-4FB0-86FB-7E2CC041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8F06F9-6019-4783-9042-846467CC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17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5F323-83A5-4748-81E3-35366CD4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02F69F-9B74-41DB-BCEC-F3354FE6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691326-0D9E-4C66-B1F9-1CB8249E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51C3CC-D941-40DD-BBF3-B745A8FC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E44DCB-2AD0-4EE4-B3A2-2F1B6758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08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571539-5409-4785-9253-5FF1506FC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C3AA68-943B-4D3D-AABC-E8F31C96D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CB12A7-661E-4F21-A198-CCF8DB62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CBECDA-B195-44E1-BDC7-A3F2E705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C306CD-2F55-4D9B-9D3D-D42C8FA5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76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7EE83-B47D-4563-A38A-F5AEAA38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7361B-DA99-4649-8753-41B59BA7E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DEF150-4B79-483D-BCB8-479DFFC49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3EE59-250B-477E-8DFE-3BA51444796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522C0-4E77-4F50-B6C9-450DEF9E8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3A13A-2E6C-442B-8B51-ECEC9F621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6BF27-1261-40BF-BA58-1C985CFFB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72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484313"/>
            <a:ext cx="9144000" cy="407828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992312" y="2605088"/>
            <a:ext cx="822325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sz="5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Заголовок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992312" y="3648075"/>
            <a:ext cx="82232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3600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Подзаголовок презентации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t="3570" b="3570"/>
          <a:stretch/>
        </p:blipFill>
        <p:spPr>
          <a:xfrm>
            <a:off x="1524000" y="1484313"/>
            <a:ext cx="9144000" cy="407828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1992312" y="2605088"/>
            <a:ext cx="822325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Цифровая 3D-медицина</a:t>
            </a:r>
            <a:endParaRPr/>
          </a:p>
          <a:p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992312" y="3648075"/>
            <a:ext cx="82232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Результаты в области компьютерной графики и геометрического моделирования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-1" y="5063044"/>
            <a:ext cx="12191999" cy="1828800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0" y="-17585"/>
            <a:ext cx="12192000" cy="118586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-4" y="1076428"/>
            <a:ext cx="12192000" cy="4389437"/>
          </a:xfrm>
          <a:prstGeom prst="rect">
            <a:avLst/>
          </a:prstGeom>
          <a:solidFill>
            <a:srgbClr val="1381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2230" y="2355266"/>
            <a:ext cx="11747533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Итоговая работа по дисциплине «Научное программирование»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На тему: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«Прогнозирование сердечных заболеваний»</a:t>
            </a:r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622" y="242713"/>
            <a:ext cx="2174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09;p25">
            <a:extLst>
              <a:ext uri="{FF2B5EF4-FFF2-40B4-BE49-F238E27FC236}">
                <a16:creationId xmlns:a16="http://schemas.microsoft.com/office/drawing/2014/main" id="{5506F867-5892-4BF4-BE00-FC1217B645A8}"/>
              </a:ext>
            </a:extLst>
          </p:cNvPr>
          <p:cNvSpPr txBox="1"/>
          <p:nvPr/>
        </p:nvSpPr>
        <p:spPr>
          <a:xfrm>
            <a:off x="7440363" y="5688439"/>
            <a:ext cx="4529400" cy="93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rgbClr val="000000"/>
              </a:buClr>
              <a:buSzPts val="1100"/>
              <a:defRPr/>
            </a:pPr>
            <a:r>
              <a:rPr lang="en-US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Выполнил</a:t>
            </a:r>
            <a:r>
              <a:rPr lang="en-US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:</a:t>
            </a:r>
            <a:endParaRPr lang="ru-RU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100"/>
              <a:defRPr/>
            </a:pP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Студент ИИТММ гр. 3825М1сФИ1</a:t>
            </a:r>
            <a:endParaRPr sz="16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100"/>
              <a:defRPr/>
            </a:pP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Рштуни Владислав Дмитриевич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738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>
              <a:lnSpc>
                <a:spcPct val="93000"/>
              </a:lnSpc>
              <a:buClr>
                <a:schemeClr val="lt1"/>
              </a:buClr>
              <a:buSzPts val="1600"/>
            </a:pPr>
            <a:r>
              <a:rPr lang="ru-RU" sz="2000" b="1" dirty="0">
                <a:solidFill>
                  <a:schemeClr val="bg1"/>
                </a:solidFill>
              </a:rPr>
              <a:t>Цель и задачи работы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Главная цель работы: </a:t>
            </a:r>
            <a:r>
              <a:rPr lang="ru-RU" dirty="0"/>
              <a:t>Провести независимый сравнительный эксперимент, вдохновлённый общей идеей статьи PMC11929227 о целесообразности сокращения числа признаков. Сравнить эффективность полного (13) и клинически обоснованного (7) наборов признаков.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Задачи: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Реализовать последовательную обработку данных с двумя наборами признаков: полным (13) и целевым (7), как в статье.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Обучить и сравнить аналогичный набор алгоритмов машинного обучения.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Провести тонкую настройку </a:t>
            </a:r>
            <a:r>
              <a:rPr lang="ru-RU" dirty="0" err="1"/>
              <a:t>гиперпараметров</a:t>
            </a:r>
            <a:r>
              <a:rPr lang="ru-RU" dirty="0"/>
              <a:t> лучших моделей.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Сравнить полученные результаты с выводами оригинального исследования.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16601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>
              <a:lnSpc>
                <a:spcPct val="93000"/>
              </a:lnSpc>
              <a:buClr>
                <a:schemeClr val="lt1"/>
              </a:buClr>
              <a:buSzPts val="1600"/>
            </a:pPr>
            <a:r>
              <a:rPr lang="ru-RU" sz="2000" b="1" dirty="0">
                <a:solidFill>
                  <a:schemeClr val="bg1"/>
                </a:solidFill>
              </a:rPr>
              <a:t>Используемый датасет и научный контекст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Датасет: </a:t>
            </a:r>
            <a:r>
              <a:rPr lang="ru-RU" dirty="0"/>
              <a:t>Heart </a:t>
            </a:r>
            <a:r>
              <a:rPr lang="ru-RU" dirty="0" err="1"/>
              <a:t>Disease</a:t>
            </a:r>
            <a:r>
              <a:rPr lang="ru-RU" dirty="0"/>
              <a:t> (UCI Machine Learning </a:t>
            </a:r>
            <a:r>
              <a:rPr lang="ru-RU" dirty="0" err="1"/>
              <a:t>Repository</a:t>
            </a:r>
            <a:r>
              <a:rPr lang="ru-RU" dirty="0"/>
              <a:t>)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Объем: </a:t>
            </a:r>
            <a:r>
              <a:rPr lang="ru-RU" dirty="0"/>
              <a:t>303 пациента</a:t>
            </a:r>
            <a:r>
              <a:rPr lang="en-US" dirty="0"/>
              <a:t> </a:t>
            </a:r>
            <a:r>
              <a:rPr lang="ru-RU" dirty="0"/>
              <a:t>(в исследовании 1190 записей)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Исходные признаки: </a:t>
            </a:r>
            <a:r>
              <a:rPr lang="ru-RU" dirty="0"/>
              <a:t>13 клинических параметров + целевая переменная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Преобразование: </a:t>
            </a:r>
            <a:r>
              <a:rPr lang="ru-RU" dirty="0" err="1"/>
              <a:t>Многоклассовая</a:t>
            </a:r>
            <a:r>
              <a:rPr lang="ru-RU" dirty="0"/>
              <a:t> задача (0-4 стадии) → бинарная классификация</a:t>
            </a:r>
          </a:p>
          <a:p>
            <a:pPr>
              <a:lnSpc>
                <a:spcPct val="150000"/>
              </a:lnSpc>
            </a:pPr>
            <a:r>
              <a:rPr lang="ru-RU" b="1" dirty="0"/>
              <a:t>Распределение классов после бинаризации: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Здоровые пациенты (0): 164 (54.1%)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Пациенты с заболеванием (1): 139 (45.9%)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Ключевая идея статьи: </a:t>
            </a:r>
            <a:r>
              <a:rPr lang="ru-RU" dirty="0"/>
              <a:t>Авторы сознательно ограничились 7 ключевыми клиническими признаками для повышения интерпретируемости.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Наша проверяемая гипотеза (из статьи): </a:t>
            </a:r>
            <a:r>
              <a:rPr lang="ru-RU" dirty="0"/>
              <a:t>Качество прогноза на целевом наборе из 7 признаков будет сопоставимо с качеством на полном наборе из 13.</a:t>
            </a:r>
          </a:p>
        </p:txBody>
      </p:sp>
    </p:spTree>
    <p:extLst>
      <p:ext uri="{BB962C8B-B14F-4D97-AF65-F5344CB8AC3E}">
        <p14:creationId xmlns:p14="http://schemas.microsoft.com/office/powerpoint/2010/main" val="3949023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>
              <a:lnSpc>
                <a:spcPct val="93000"/>
              </a:lnSpc>
              <a:buClr>
                <a:schemeClr val="lt1"/>
              </a:buClr>
              <a:buSzPts val="1600"/>
            </a:pPr>
            <a:r>
              <a:rPr lang="ru-RU" sz="2000" b="1" dirty="0">
                <a:solidFill>
                  <a:schemeClr val="bg1"/>
                </a:solidFill>
              </a:rPr>
              <a:t>Описание атрибутов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83E529-7E71-CA69-B949-1A570F6BB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1" y="1256375"/>
            <a:ext cx="11964318" cy="43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2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>
              <a:lnSpc>
                <a:spcPct val="93000"/>
              </a:lnSpc>
              <a:buClr>
                <a:schemeClr val="lt1"/>
              </a:buClr>
              <a:buSzPts val="1600"/>
            </a:pPr>
            <a:r>
              <a:rPr lang="ru-RU" sz="2000" b="1" dirty="0">
                <a:solidFill>
                  <a:schemeClr val="bg1"/>
                </a:solidFill>
              </a:rPr>
              <a:t>Процесс анализа данных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5" y="1329069"/>
            <a:ext cx="713185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1. Предобработка: </a:t>
            </a:r>
            <a:r>
              <a:rPr lang="ru-RU" dirty="0"/>
              <a:t>Обработка пропусков, кодирование категориальных признаков, нормализация.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2. Стратегия признаков: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Полный набор: </a:t>
            </a:r>
            <a:r>
              <a:rPr lang="ru-RU" dirty="0"/>
              <a:t>Все 13 исходных признаков.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Целевой набор: </a:t>
            </a:r>
            <a:r>
              <a:rPr lang="ru-RU" dirty="0"/>
              <a:t>7 клинически значимых признаков (</a:t>
            </a:r>
            <a:r>
              <a:rPr lang="en-US" dirty="0"/>
              <a:t>age, cp, </a:t>
            </a:r>
            <a:r>
              <a:rPr lang="en-US" dirty="0" err="1"/>
              <a:t>chol</a:t>
            </a:r>
            <a:r>
              <a:rPr lang="en-US" dirty="0"/>
              <a:t>, </a:t>
            </a:r>
            <a:r>
              <a:rPr lang="en-US" dirty="0" err="1"/>
              <a:t>thalach</a:t>
            </a:r>
            <a:r>
              <a:rPr lang="en-US" dirty="0"/>
              <a:t>, </a:t>
            </a:r>
            <a:r>
              <a:rPr lang="en-US" dirty="0" err="1"/>
              <a:t>oldpeak</a:t>
            </a:r>
            <a:r>
              <a:rPr lang="en-US" dirty="0"/>
              <a:t>, ca, </a:t>
            </a:r>
            <a:r>
              <a:rPr lang="en-US" dirty="0" err="1"/>
              <a:t>thal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</a:t>
            </a:r>
            <a:r>
              <a:rPr lang="ru-RU" b="1" dirty="0"/>
              <a:t>Модели: </a:t>
            </a:r>
            <a:r>
              <a:rPr lang="ru-RU" dirty="0"/>
              <a:t>Обучение и оценка 12+ алгоритмов (</a:t>
            </a:r>
            <a:r>
              <a:rPr lang="en-US" dirty="0"/>
              <a:t>Random Forest, AdaBoost, </a:t>
            </a:r>
            <a:r>
              <a:rPr lang="en-US" dirty="0" err="1"/>
              <a:t>XGBoost</a:t>
            </a:r>
            <a:r>
              <a:rPr lang="en-US" dirty="0"/>
              <a:t>, KNN, SVM </a:t>
            </a:r>
            <a:r>
              <a:rPr lang="ru-RU" dirty="0"/>
              <a:t>и др.) для каждой стратегии.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4. Оценка: </a:t>
            </a:r>
            <a:r>
              <a:rPr lang="ru-RU" dirty="0"/>
              <a:t>Метрики </a:t>
            </a:r>
            <a:r>
              <a:rPr lang="en-US" dirty="0"/>
              <a:t>Accuracy, Precision, Recall, F1-Score, ROC-AUC; </a:t>
            </a:r>
            <a:r>
              <a:rPr lang="ru-RU" dirty="0"/>
              <a:t>разбиение 80/20.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04B287-7C74-3B55-0556-B81FE5EBD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71" y="965199"/>
            <a:ext cx="5136770" cy="574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0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>
              <a:lnSpc>
                <a:spcPct val="93000"/>
              </a:lnSpc>
              <a:buClr>
                <a:schemeClr val="lt1"/>
              </a:buClr>
              <a:buSzPts val="1600"/>
            </a:pPr>
            <a:r>
              <a:rPr lang="ru-RU" sz="2000" b="1" dirty="0">
                <a:solidFill>
                  <a:schemeClr val="bg1"/>
                </a:solidFill>
              </a:rPr>
              <a:t>Полученные данные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FFF527-0144-4241-EACF-85DEADB68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92" y="1115279"/>
            <a:ext cx="10860016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6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>
              <a:lnSpc>
                <a:spcPct val="93000"/>
              </a:lnSpc>
              <a:buClr>
                <a:schemeClr val="lt1"/>
              </a:buClr>
              <a:buSzPts val="1600"/>
            </a:pPr>
            <a:r>
              <a:rPr lang="ru-RU" sz="2000" b="1" dirty="0">
                <a:solidFill>
                  <a:schemeClr val="bg1"/>
                </a:solidFill>
              </a:rPr>
              <a:t>Полученные данные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CF3672-0801-55C9-9650-86429D1B5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5817"/>
            <a:ext cx="12192000" cy="502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8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quote-cjk-patch"/>
              </a:rPr>
              <a:t>Ключевой результат 1 – Качество моделей сохраняется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Лучшая точность (</a:t>
            </a:r>
            <a:r>
              <a:rPr lang="ru-RU" b="1" dirty="0" err="1"/>
              <a:t>Accuracy</a:t>
            </a:r>
            <a:r>
              <a:rPr lang="ru-RU" b="1" dirty="0"/>
              <a:t>) на тестовой выборке: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С 13 признаками: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 – 90.16%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С 7 признаками: </a:t>
            </a:r>
            <a:r>
              <a:rPr lang="ru-RU" dirty="0" err="1"/>
              <a:t>AdaBoost</a:t>
            </a:r>
            <a:r>
              <a:rPr lang="ru-RU" dirty="0"/>
              <a:t> (</a:t>
            </a:r>
            <a:r>
              <a:rPr lang="ru-RU" dirty="0" err="1"/>
              <a:t>tuned</a:t>
            </a:r>
            <a:r>
              <a:rPr lang="ru-RU" dirty="0"/>
              <a:t>) – 90.16%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Вывод: </a:t>
            </a:r>
            <a:r>
              <a:rPr lang="ru-RU" dirty="0"/>
              <a:t>Сокращение числа признаков не привело к значительной потере точности (падение в среднем по лучшим моделям ~1.7%), что полностью согласуется с гипотезой статьи.</a:t>
            </a:r>
          </a:p>
          <a:p>
            <a:pPr>
              <a:lnSpc>
                <a:spcPct val="150000"/>
              </a:lnSpc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4423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48126" y="484187"/>
            <a:ext cx="9809039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quote-cjk-patch"/>
              </a:rPr>
              <a:t>Ключевой результат 2 – Объективное подтверждение выбора признаков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5413344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Анализ важности признаков (на основе </a:t>
            </a:r>
            <a:r>
              <a:rPr lang="ru-RU" b="1" dirty="0" err="1"/>
              <a:t>Random</a:t>
            </a:r>
            <a:r>
              <a:rPr lang="ru-RU" b="1" dirty="0"/>
              <a:t> </a:t>
            </a:r>
            <a:r>
              <a:rPr lang="ru-RU" b="1" dirty="0" err="1"/>
              <a:t>Forest</a:t>
            </a:r>
            <a:r>
              <a:rPr lang="ru-RU" b="1" dirty="0"/>
              <a:t> с 13 признаками) показал: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Топ-7 самых важных для модели признаков: </a:t>
            </a:r>
            <a:r>
              <a:rPr lang="ru-RU" dirty="0" err="1"/>
              <a:t>thalach</a:t>
            </a:r>
            <a:r>
              <a:rPr lang="ru-RU" dirty="0"/>
              <a:t>, </a:t>
            </a:r>
            <a:r>
              <a:rPr lang="ru-RU" dirty="0" err="1"/>
              <a:t>cp</a:t>
            </a:r>
            <a:r>
              <a:rPr lang="ru-RU" dirty="0"/>
              <a:t>, </a:t>
            </a:r>
            <a:r>
              <a:rPr lang="en-US" dirty="0"/>
              <a:t>that, ca, age, </a:t>
            </a:r>
            <a:r>
              <a:rPr lang="ru-RU" dirty="0" err="1"/>
              <a:t>oldpeak</a:t>
            </a:r>
            <a:r>
              <a:rPr lang="ru-RU" dirty="0"/>
              <a:t>, c</a:t>
            </a:r>
            <a:r>
              <a:rPr lang="en-US" dirty="0" err="1"/>
              <a:t>hol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Все они вошли в целевой набор из 7 параметров.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Вывод: </a:t>
            </a:r>
            <a:r>
              <a:rPr lang="ru-RU" dirty="0"/>
              <a:t>Авторы статьи выбрали клинически значимые признаки. Наш анализ объективно подтвердил, что эти же признаки являются наиболее информативными для алгоритма. Это объясняет, почему их стратегия работает.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47138B-C0AF-9645-44F4-C4FE93329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951" y="1136088"/>
            <a:ext cx="6579049" cy="55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7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quote-cjk-patch"/>
              </a:rPr>
              <a:t>Ключевой результат 3 – Сравнение с выводами статьи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Что совпало (подтверждение):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Ансамблевский</a:t>
            </a:r>
            <a:r>
              <a:rPr lang="ru-RU" dirty="0"/>
              <a:t> метод (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) показал наилучший баланс метрик.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Стратегия использования 7 признаков эффективна и сохраняет высокое качество.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Высокий </a:t>
            </a:r>
            <a:r>
              <a:rPr lang="ru-RU" dirty="0" err="1"/>
              <a:t>Recall</a:t>
            </a:r>
            <a:r>
              <a:rPr lang="ru-RU" dirty="0"/>
              <a:t> (&gt;92%) критически важен для медицинского применения.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Наше наблюдение: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Лучшая модель: </a:t>
            </a:r>
            <a:r>
              <a:rPr lang="ru-RU" dirty="0"/>
              <a:t>На 7 признаках лучший результат показал </a:t>
            </a:r>
            <a:r>
              <a:rPr lang="ru-RU" dirty="0" err="1"/>
              <a:t>AdaBoost</a:t>
            </a:r>
            <a:r>
              <a:rPr lang="ru-RU" dirty="0"/>
              <a:t>, а не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, как в статье на объединённых данных.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Поведение KNN: </a:t>
            </a:r>
            <a:r>
              <a:rPr lang="ru-RU" dirty="0"/>
              <a:t>На целевом наборе KNN показал хороший результат после настройки</a:t>
            </a:r>
            <a:r>
              <a:rPr lang="en-US" dirty="0"/>
              <a:t>.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Несмотря на использование разных наборов признаков, наши выводы качественно совпали с выводами статьи: </a:t>
            </a:r>
            <a:r>
              <a:rPr lang="ru-RU" dirty="0"/>
              <a:t>эффективность ансамблевых методов, допустимость сокращения признаков без серьёзного ущерба для точности, критическая важность высокой чувствительности (</a:t>
            </a:r>
            <a:r>
              <a:rPr lang="ru-RU" dirty="0" err="1"/>
              <a:t>Recall</a:t>
            </a:r>
            <a:r>
              <a:rPr lang="ru-RU" dirty="0"/>
              <a:t>) модели</a:t>
            </a:r>
          </a:p>
        </p:txBody>
      </p:sp>
    </p:spTree>
    <p:extLst>
      <p:ext uri="{BB962C8B-B14F-4D97-AF65-F5344CB8AC3E}">
        <p14:creationId xmlns:p14="http://schemas.microsoft.com/office/powerpoint/2010/main" val="263498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 algn="l"/>
            <a:r>
              <a:rPr lang="ru-RU" sz="2000" b="1" i="0" dirty="0">
                <a:solidFill>
                  <a:srgbClr val="F9FAFB"/>
                </a:solidFill>
                <a:effectLst/>
                <a:latin typeface="quote-cjk-patch"/>
              </a:rPr>
              <a:t> Лучшая модель и её параметры</a:t>
            </a:r>
            <a:endParaRPr lang="ru-RU" sz="20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Модель: </a:t>
            </a:r>
            <a:r>
              <a:rPr lang="en-US" dirty="0"/>
              <a:t>Random Forest</a:t>
            </a:r>
            <a:r>
              <a:rPr lang="ru-RU" dirty="0"/>
              <a:t> (с тонкой настройкой, </a:t>
            </a:r>
            <a:r>
              <a:rPr lang="en-US" dirty="0"/>
              <a:t>13</a:t>
            </a:r>
            <a:r>
              <a:rPr lang="ru-RU" dirty="0"/>
              <a:t> признаков).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Метрики на тесте: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 err="1"/>
              <a:t>Accuracy</a:t>
            </a:r>
            <a:r>
              <a:rPr lang="ru-RU" b="1" dirty="0"/>
              <a:t>: </a:t>
            </a:r>
            <a:r>
              <a:rPr lang="ru-RU" dirty="0"/>
              <a:t>90.16%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 err="1"/>
              <a:t>Recall</a:t>
            </a:r>
            <a:r>
              <a:rPr lang="ru-RU" b="1" dirty="0"/>
              <a:t> (Чувствительность): </a:t>
            </a:r>
            <a:r>
              <a:rPr lang="ru-RU" dirty="0"/>
              <a:t>92.86% (пропускает менее 8% больных)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Precision: </a:t>
            </a:r>
            <a:r>
              <a:rPr lang="ru-RU" dirty="0"/>
              <a:t>86.67%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F1-Score: </a:t>
            </a:r>
            <a:r>
              <a:rPr lang="ru-RU" dirty="0"/>
              <a:t>89.66%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ROC-AUC: </a:t>
            </a:r>
            <a:r>
              <a:rPr lang="ru-RU" dirty="0"/>
              <a:t>0.9579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Time learning: </a:t>
            </a:r>
            <a:r>
              <a:rPr lang="en-US" dirty="0"/>
              <a:t>0.48958 </a:t>
            </a:r>
            <a:r>
              <a:rPr lang="en-US"/>
              <a:t>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873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 algn="l"/>
            <a:r>
              <a:rPr lang="ru-RU" sz="2000" b="1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2 </a:t>
            </a:r>
            <a:r>
              <a:rPr lang="ru-RU" sz="2000" b="1" i="0" dirty="0">
                <a:solidFill>
                  <a:srgbClr val="F9FAFB"/>
                </a:solidFill>
                <a:effectLst/>
                <a:latin typeface="quote-cjk-patch"/>
              </a:rPr>
              <a:t>Лучшая модель и её параметры</a:t>
            </a:r>
            <a:endParaRPr lang="ru-RU" sz="20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Модель: </a:t>
            </a:r>
            <a:r>
              <a:rPr lang="ru-RU" dirty="0" err="1"/>
              <a:t>AdaBoost</a:t>
            </a:r>
            <a:r>
              <a:rPr lang="ru-RU" dirty="0"/>
              <a:t> (с тонкой настройкой, 7 признаков).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Метрики на тесте: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 err="1"/>
              <a:t>Accuracy</a:t>
            </a:r>
            <a:r>
              <a:rPr lang="ru-RU" b="1" dirty="0"/>
              <a:t>: </a:t>
            </a:r>
            <a:r>
              <a:rPr lang="ru-RU" dirty="0"/>
              <a:t>90.16%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 err="1"/>
              <a:t>Recall</a:t>
            </a:r>
            <a:r>
              <a:rPr lang="ru-RU" b="1" dirty="0"/>
              <a:t> (Чувствительность): </a:t>
            </a:r>
            <a:r>
              <a:rPr lang="ru-RU" dirty="0"/>
              <a:t>92.86% (пропускает менее 8% больных)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Precision: </a:t>
            </a:r>
            <a:r>
              <a:rPr lang="ru-RU" dirty="0"/>
              <a:t>86.67%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F1-Score: </a:t>
            </a:r>
            <a:r>
              <a:rPr lang="ru-RU" dirty="0"/>
              <a:t>89.66%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ROC-AUC: </a:t>
            </a:r>
            <a:r>
              <a:rPr lang="ru-RU" dirty="0"/>
              <a:t>0.9545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Time learning: </a:t>
            </a:r>
            <a:r>
              <a:rPr lang="en-US" dirty="0"/>
              <a:t>0.270748 s.</a:t>
            </a:r>
            <a:endParaRPr lang="ru-RU" dirty="0"/>
          </a:p>
          <a:p>
            <a:pPr>
              <a:lnSpc>
                <a:spcPct val="15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6935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61941" y="484187"/>
            <a:ext cx="8152450" cy="481012"/>
          </a:xfrm>
          <a:prstGeom prst="parallelogram">
            <a:avLst>
              <a:gd name="adj" fmla="val 4346"/>
            </a:avLst>
          </a:prstGeom>
          <a:solidFill>
            <a:srgbClr val="1381C0"/>
          </a:solidFill>
          <a:ln>
            <a:noFill/>
          </a:ln>
        </p:spPr>
        <p:txBody>
          <a:bodyPr spcFirstLastPara="1" wrap="square" lIns="0" tIns="45700" rIns="0" bIns="72000" anchor="ctr" anchorCtr="0">
            <a:no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quote-cjk-patch"/>
              </a:rPr>
              <a:t>Заключение и итоги работы</a:t>
            </a:r>
          </a:p>
        </p:txBody>
      </p:sp>
      <p:sp>
        <p:nvSpPr>
          <p:cNvPr id="136" name="Google Shape;136;p19"/>
          <p:cNvSpPr/>
          <p:nvPr/>
        </p:nvSpPr>
        <p:spPr>
          <a:xfrm>
            <a:off x="263556" y="484187"/>
            <a:ext cx="619125" cy="481012"/>
          </a:xfrm>
          <a:prstGeom prst="parallelogram">
            <a:avLst>
              <a:gd name="adj" fmla="val 25000"/>
            </a:avLst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3" y="484187"/>
            <a:ext cx="392112" cy="48101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977" y="427037"/>
            <a:ext cx="19224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E99E135-FFA1-4732-80DE-33C8995E71EE}"/>
              </a:ext>
            </a:extLst>
          </p:cNvPr>
          <p:cNvSpPr txBox="1">
            <a:spLocks/>
          </p:cNvSpPr>
          <p:nvPr/>
        </p:nvSpPr>
        <p:spPr>
          <a:xfrm>
            <a:off x="9809039" y="634756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C78B9212-1807-44C2-A697-25BAA345141E}" type="slidenum">
              <a:rPr lang="ru-RU" ker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13</a:t>
            </a:fld>
            <a:endParaRPr lang="ru-RU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17590-9526-409E-B17A-E467AAFC23AF}"/>
              </a:ext>
            </a:extLst>
          </p:cNvPr>
          <p:cNvSpPr txBox="1"/>
          <p:nvPr/>
        </p:nvSpPr>
        <p:spPr>
          <a:xfrm>
            <a:off x="263556" y="1329069"/>
            <a:ext cx="10634816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Цель достигнута: </a:t>
            </a:r>
            <a:r>
              <a:rPr lang="ru-RU" dirty="0"/>
              <a:t>Методология статьи PMC11929227 была успешно воспроизведена на датасете UCI Heart </a:t>
            </a:r>
            <a:r>
              <a:rPr lang="ru-RU" dirty="0" err="1"/>
              <a:t>Disease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Основные итоги: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Гипотеза статьи подтверждена: использование 7 ключевых признаков позволяет сохранить высокое качество прогноза (~90% </a:t>
            </a:r>
            <a:r>
              <a:rPr lang="ru-RU" dirty="0" err="1"/>
              <a:t>Accuracy</a:t>
            </a:r>
            <a:r>
              <a:rPr lang="ru-RU" dirty="0"/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Объективно доказано, почему эта стратегия работает: выбранные признаки являются наиболее важными с точки зрения модели.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Получены сопоставимые результаты с оригинальным исследованием, что говорит об устойчивости методологии.</a:t>
            </a:r>
          </a:p>
        </p:txBody>
      </p:sp>
    </p:spTree>
    <p:extLst>
      <p:ext uri="{BB962C8B-B14F-4D97-AF65-F5344CB8AC3E}">
        <p14:creationId xmlns:p14="http://schemas.microsoft.com/office/powerpoint/2010/main" val="34784469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10385</TotalTime>
  <Words>816</Words>
  <Application>Microsoft Office PowerPoint</Application>
  <PresentationFormat>Широкоэкранный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 Гостеева</dc:creator>
  <cp:lastModifiedBy>Влад</cp:lastModifiedBy>
  <cp:revision>237</cp:revision>
  <dcterms:created xsi:type="dcterms:W3CDTF">2024-09-04T09:20:32Z</dcterms:created>
  <dcterms:modified xsi:type="dcterms:W3CDTF">2025-12-25T16:32:24Z</dcterms:modified>
</cp:coreProperties>
</file>